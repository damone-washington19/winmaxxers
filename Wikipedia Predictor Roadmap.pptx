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Inter"/>
      <p:regular r:id="rId18"/>
      <p:bold r:id="rId19"/>
      <p:italic r:id="rId20"/>
      <p:boldItalic r:id="rId21"/>
    </p:embeddedFont>
    <p:embeddedFont>
      <p:font typeface="Inter ExtraBold"/>
      <p:bold r:id="rId22"/>
      <p:boldItalic r:id="rId23"/>
    </p:embeddedFont>
    <p:embeddedFont>
      <p:font typeface="JetBrains Mon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22B5B3E-7533-4A7B-A7F4-6FE7DED33F66}">
  <a:tblStyle styleId="{522B5B3E-7533-4A7B-A7F4-6FE7DED33F6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italic.fntdata"/><Relationship Id="rId22" Type="http://schemas.openxmlformats.org/officeDocument/2006/relationships/font" Target="fonts/InterExtraBold-bold.fntdata"/><Relationship Id="rId21" Type="http://schemas.openxmlformats.org/officeDocument/2006/relationships/font" Target="fonts/Inter-boldItalic.fntdata"/><Relationship Id="rId24" Type="http://schemas.openxmlformats.org/officeDocument/2006/relationships/font" Target="fonts/JetBrainsMono-regular.fntdata"/><Relationship Id="rId23" Type="http://schemas.openxmlformats.org/officeDocument/2006/relationships/font" Target="fonts/InterExtra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JetBrainsMono-italic.fntdata"/><Relationship Id="rId25" Type="http://schemas.openxmlformats.org/officeDocument/2006/relationships/font" Target="fonts/JetBrainsMono-bold.fntdata"/><Relationship Id="rId27" Type="http://schemas.openxmlformats.org/officeDocument/2006/relationships/font" Target="fonts/JetBrainsMon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nter-bold.fntdata"/><Relationship Id="rId18" Type="http://schemas.openxmlformats.org/officeDocument/2006/relationships/font" Target="fonts/Inter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9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7.png"/><Relationship Id="rId7" Type="http://schemas.openxmlformats.org/officeDocument/2006/relationships/image" Target="../media/image5.png"/><Relationship Id="rId8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4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14.png"/><Relationship Id="rId8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9" Type="http://schemas.openxmlformats.org/officeDocument/2006/relationships/image" Target="../media/image11.png"/><Relationship Id="rId5" Type="http://schemas.openxmlformats.org/officeDocument/2006/relationships/image" Target="../media/image31.png"/><Relationship Id="rId6" Type="http://schemas.openxmlformats.org/officeDocument/2006/relationships/image" Target="../media/image18.png"/><Relationship Id="rId7" Type="http://schemas.openxmlformats.org/officeDocument/2006/relationships/image" Target="../media/image12.png"/><Relationship Id="rId8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11" Type="http://schemas.openxmlformats.org/officeDocument/2006/relationships/image" Target="../media/image22.png"/><Relationship Id="rId10" Type="http://schemas.openxmlformats.org/officeDocument/2006/relationships/image" Target="../media/image24.png"/><Relationship Id="rId9" Type="http://schemas.openxmlformats.org/officeDocument/2006/relationships/image" Target="../media/image26.png"/><Relationship Id="rId5" Type="http://schemas.openxmlformats.org/officeDocument/2006/relationships/image" Target="../media/image30.png"/><Relationship Id="rId6" Type="http://schemas.openxmlformats.org/officeDocument/2006/relationships/image" Target="../media/image25.png"/><Relationship Id="rId7" Type="http://schemas.openxmlformats.org/officeDocument/2006/relationships/image" Target="../media/image32.png"/><Relationship Id="rId8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3.png"/><Relationship Id="rId5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3.png"/><Relationship Id="rId5" Type="http://schemas.openxmlformats.org/officeDocument/2006/relationships/image" Target="../media/image27.png"/><Relationship Id="rId6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81025" y="1436637"/>
            <a:ext cx="110299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// PROJECT CHRONOSCRIBE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3474690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data-driven strategy for identifying emerging knowledge hubs through temporal graph analysis and supervised trajectory scoring.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000500" y="4872781"/>
            <a:ext cx="22288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DEVELOPER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000500" y="5116562"/>
            <a:ext cx="2228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Expert Product Engineer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610350" y="4872781"/>
            <a:ext cx="15811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TIMELINE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610350" y="5116562"/>
            <a:ext cx="1581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6 Days (Buffered)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305276" y="1680418"/>
            <a:ext cx="11581447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Wikipedia Importance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5400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Predictor Roadmap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962275"/>
            <a:ext cx="1102995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81025" y="5972175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*Timeline incorporates a 1.5x buffer to account for API rate-limiting and data cleansing overhead.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1449288" y="2556569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22D3EE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763488" y="2928044"/>
            <a:ext cx="1600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M1: Definition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06400" y="3156644"/>
            <a:ext cx="7143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/>
          <p:nvPr/>
        </p:nvSpPr>
        <p:spPr>
          <a:xfrm>
            <a:off x="3103810" y="373945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22D3EE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2418010" y="4110930"/>
            <a:ext cx="1600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M2: Acquisition</a:t>
            </a:r>
            <a:endParaRPr/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60923" y="4339530"/>
            <a:ext cx="7143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/>
          <p:nvPr/>
        </p:nvSpPr>
        <p:spPr>
          <a:xfrm>
            <a:off x="4868465" y="2556569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22D3EE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4182665" y="2928044"/>
            <a:ext cx="1600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M3: Construction</a:t>
            </a:r>
            <a:endParaRPr/>
          </a:p>
        </p:txBody>
      </p:sp>
      <p:pic>
        <p:nvPicPr>
          <p:cNvPr descr="image.png" id="107" name="Google Shape;10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25578" y="3156644"/>
            <a:ext cx="7143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/>
          <p:nvPr/>
        </p:nvSpPr>
        <p:spPr>
          <a:xfrm>
            <a:off x="6743700" y="373945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22D3EE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6057900" y="4110930"/>
            <a:ext cx="1600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M4: Engineering</a:t>
            </a:r>
            <a:endParaRPr/>
          </a:p>
        </p:txBody>
      </p:sp>
      <p:pic>
        <p:nvPicPr>
          <p:cNvPr descr="image.png" id="110" name="Google Shape;110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00812" y="4339530"/>
            <a:ext cx="7143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/>
          <p:nvPr/>
        </p:nvSpPr>
        <p:spPr>
          <a:xfrm>
            <a:off x="8618785" y="2556569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22D3EE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7932985" y="2928044"/>
            <a:ext cx="1600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M5: Scoring</a:t>
            </a:r>
            <a:endParaRPr/>
          </a:p>
        </p:txBody>
      </p:sp>
      <p:pic>
        <p:nvPicPr>
          <p:cNvPr descr="image.png" id="113" name="Google Shape;11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75898" y="3156644"/>
            <a:ext cx="7143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/>
          <p:nvPr/>
        </p:nvSpPr>
        <p:spPr>
          <a:xfrm>
            <a:off x="10383440" y="373945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22D3EE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9697640" y="4110930"/>
            <a:ext cx="1600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M6: Validation</a:t>
            </a:r>
            <a:endParaRPr/>
          </a:p>
        </p:txBody>
      </p:sp>
      <p:pic>
        <p:nvPicPr>
          <p:cNvPr descr="image.png" id="116" name="Google Shape;116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140553" y="4339530"/>
            <a:ext cx="7143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11707117" y="2556569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22D3EE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11064626" y="2928044"/>
            <a:ext cx="113258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M7: Final Polish</a:t>
            </a:r>
            <a:endParaRPr/>
          </a:p>
        </p:txBody>
      </p:sp>
      <p:pic>
        <p:nvPicPr>
          <p:cNvPr descr="image.png" id="119" name="Google Shape;11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64230" y="3156644"/>
            <a:ext cx="7143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 txBox="1"/>
          <p:nvPr/>
        </p:nvSpPr>
        <p:spPr>
          <a:xfrm>
            <a:off x="771525" y="581025"/>
            <a:ext cx="1138142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1F5F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The Project Journey</a:t>
            </a:r>
            <a:endParaRPr/>
          </a:p>
        </p:txBody>
      </p:sp>
      <p:sp>
        <p:nvSpPr>
          <p:cNvPr id="121" name="Google Shape;121;p14"/>
          <p:cNvSpPr/>
          <p:nvPr/>
        </p:nvSpPr>
        <p:spPr>
          <a:xfrm>
            <a:off x="581025" y="581025"/>
            <a:ext cx="57150" cy="5143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71675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581025" y="2762250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Establishing the structural foundation of the project to ensure reproducible science.</a:t>
            </a:r>
            <a:endParaRPr/>
          </a:p>
        </p:txBody>
      </p:sp>
      <p:pic>
        <p:nvPicPr>
          <p:cNvPr descr="image.png" id="129" name="Google Shape;12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81200"/>
            <a:ext cx="18192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581025" y="3562350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500" u="none" cap="none" strike="noStrik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Repository: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Initialize GitHub with strict CI/CD guidelines.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581025" y="4314825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Scope: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Define "Importance" metrics for the graph.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581025" y="4762500"/>
            <a:ext cx="5229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Data Points: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Select revision &amp; link metadata.</a:t>
            </a:r>
            <a:endParaRPr/>
          </a:p>
        </p:txBody>
      </p:sp>
      <p:pic>
        <p:nvPicPr>
          <p:cNvPr descr="image.png" id="133" name="Google Shape;13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614737"/>
            <a:ext cx="1809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3672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4814887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/>
        </p:nvSpPr>
        <p:spPr>
          <a:xfrm>
            <a:off x="771525" y="581025"/>
            <a:ext cx="1138142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1F5F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Milestone 1: Definition &amp; Setup</a:t>
            </a:r>
            <a:endParaRPr/>
          </a:p>
        </p:txBody>
      </p:sp>
      <p:sp>
        <p:nvSpPr>
          <p:cNvPr id="137" name="Google Shape;137;p15"/>
          <p:cNvSpPr/>
          <p:nvPr/>
        </p:nvSpPr>
        <p:spPr>
          <a:xfrm>
            <a:off x="581025" y="581025"/>
            <a:ext cx="57150" cy="5143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581025" y="2543175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1F5F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Environment &amp; Ideation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81287"/>
            <a:ext cx="3486150" cy="2390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681287"/>
            <a:ext cx="3486150" cy="2390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681287"/>
            <a:ext cx="3486150" cy="2390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97656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876300" y="3862387"/>
            <a:ext cx="289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Select temporal milestones (2015, 2018, 2021) to capture historical growth states.</a:t>
            </a:r>
            <a:endParaRPr/>
          </a:p>
        </p:txBody>
      </p:sp>
      <p:pic>
        <p:nvPicPr>
          <p:cNvPr descr="image.png" id="149" name="Google Shape;149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8200" y="2976562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 txBox="1"/>
          <p:nvPr/>
        </p:nvSpPr>
        <p:spPr>
          <a:xfrm>
            <a:off x="4648200" y="3862387"/>
            <a:ext cx="289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Automated retrieval via Wikipedia API/Web-scraping with robust error handling.</a:t>
            </a:r>
            <a:endParaRPr/>
          </a:p>
        </p:txBody>
      </p:sp>
      <p:pic>
        <p:nvPicPr>
          <p:cNvPr descr="image.png" id="151" name="Google Shape;151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0100" y="297656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 txBox="1"/>
          <p:nvPr/>
        </p:nvSpPr>
        <p:spPr>
          <a:xfrm>
            <a:off x="8420100" y="3862387"/>
            <a:ext cx="289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Extracting raw HTML/Wikitext into structured metadata, links, and page categories.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771525" y="581025"/>
            <a:ext cx="1138142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1F5F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Milestone 2: Data Acquisition</a:t>
            </a: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581025" y="581025"/>
            <a:ext cx="57150" cy="5143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876300" y="3471862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Snapshots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4648200" y="3471862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API Harvesting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8420100" y="3471862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Parsing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581025" y="3186112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This phase transforms flat snapshots into a multidimensional network where obscure relations surface through structural analysis.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581025" y="4100512"/>
            <a:ext cx="49434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NetworkX Implementation: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Nodes represent unique articles; edges represent cross-references. We validate graph integrity to ensure zero dangling pointers.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581025" y="1557337"/>
            <a:ext cx="5190648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1F5F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Milestone 3: Knowledge Graph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581025" y="2967037"/>
            <a:ext cx="51906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1F5F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Connecting the Dots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791717"/>
            <a:ext cx="5229225" cy="21697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4226123"/>
            <a:ext cx="5229225" cy="62478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/>
        </p:nvSpPr>
        <p:spPr>
          <a:xfrm>
            <a:off x="876300" y="3477517"/>
            <a:ext cx="46386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Automated extraction of: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6381750" y="3121223"/>
            <a:ext cx="52292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Choosing and normalizing algorithms to ensure stable training. We focus on scale-invariant features to prevent high-degree nodes from skewing predictions.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771525" y="3751808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876300" y="3751808"/>
            <a:ext cx="4638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In-Degree: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Measures incoming authority.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771525" y="4056608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876300" y="4056608"/>
            <a:ext cx="4638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Out-Degree: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Measures page connectivity.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771525" y="4361408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876300" y="4361408"/>
            <a:ext cx="4638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PageRank: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Relative importance in network.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6572250" y="4416623"/>
            <a:ext cx="48482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STATUS: Selecting XGBoost vs LogReg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771525" y="581025"/>
            <a:ext cx="1138142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1F5F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Milestone 4: Feature Engineering</a:t>
            </a:r>
            <a:endParaRPr/>
          </a:p>
        </p:txBody>
      </p:sp>
      <p:sp>
        <p:nvSpPr>
          <p:cNvPr id="185" name="Google Shape;185;p18"/>
          <p:cNvSpPr/>
          <p:nvPr/>
        </p:nvSpPr>
        <p:spPr>
          <a:xfrm>
            <a:off x="581025" y="581025"/>
            <a:ext cx="57150" cy="5143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 txBox="1"/>
          <p:nvPr/>
        </p:nvSpPr>
        <p:spPr>
          <a:xfrm>
            <a:off x="876300" y="3086992"/>
            <a:ext cx="487060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2D3EE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Topological Features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6381750" y="2902148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1F5F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Model Selection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/>
          <p:nvPr/>
        </p:nvSpPr>
        <p:spPr>
          <a:xfrm>
            <a:off x="581025" y="2424112"/>
            <a:ext cx="11029950" cy="2905125"/>
          </a:xfrm>
          <a:prstGeom prst="roundRect">
            <a:avLst>
              <a:gd fmla="val 0" name="adj"/>
            </a:avLst>
          </a:prstGeom>
          <a:solidFill>
            <a:srgbClr val="1E293B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4" name="Google Shape;194;p19"/>
          <p:cNvGraphicFramePr/>
          <p:nvPr/>
        </p:nvGraphicFramePr>
        <p:xfrm>
          <a:off x="581025" y="24241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{522B5B3E-7533-4A7B-A7F4-6FE7DED33F66}</a:tableStyleId>
              </a:tblPr>
              <a:tblGrid>
                <a:gridCol w="2141475"/>
                <a:gridCol w="4427925"/>
                <a:gridCol w="4460525"/>
              </a:tblGrid>
              <a:tr h="58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2D3E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Component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2D3E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22D3EE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Expected Outcome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1F5F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Alignment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1F5F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Map nodes across 3 snapshots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1F5F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Consistent entity tracking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1F5F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Labeling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1F5F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Compute future delta growth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1F5F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Binary targets (Hit vs. Obscure)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1F5F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Splitting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1F5F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Time-based train/test split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1F5F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Prevents data leakage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1F5F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Training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1F5F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Execute baseline regression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1F5F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Initial probability weights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5" name="Google Shape;195;p19"/>
          <p:cNvSpPr/>
          <p:nvPr/>
        </p:nvSpPr>
        <p:spPr>
          <a:xfrm>
            <a:off x="581025" y="2990850"/>
            <a:ext cx="21414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2722512" y="2990850"/>
            <a:ext cx="442793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7150447" y="2990850"/>
            <a:ext cx="446052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581025" y="3571875"/>
            <a:ext cx="21414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2722512" y="3571875"/>
            <a:ext cx="442793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7150447" y="3571875"/>
            <a:ext cx="446052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581025" y="4152900"/>
            <a:ext cx="21414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2722512" y="4152900"/>
            <a:ext cx="442793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7150447" y="4152900"/>
            <a:ext cx="446052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581025" y="4733925"/>
            <a:ext cx="21414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2722512" y="4733925"/>
            <a:ext cx="442793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7150447" y="4733925"/>
            <a:ext cx="446052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581025" y="5314950"/>
            <a:ext cx="21414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2722512" y="5314950"/>
            <a:ext cx="442793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7150447" y="5314950"/>
            <a:ext cx="446052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 txBox="1"/>
          <p:nvPr/>
        </p:nvSpPr>
        <p:spPr>
          <a:xfrm>
            <a:off x="771525" y="581025"/>
            <a:ext cx="1138142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1F5F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Milestone 5: Scoring Model</a:t>
            </a:r>
            <a:endParaRPr/>
          </a:p>
        </p:txBody>
      </p:sp>
      <p:sp>
        <p:nvSpPr>
          <p:cNvPr id="211" name="Google Shape;211;p19"/>
          <p:cNvSpPr/>
          <p:nvPr/>
        </p:nvSpPr>
        <p:spPr>
          <a:xfrm>
            <a:off x="581025" y="581025"/>
            <a:ext cx="57150" cy="5143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0"/>
          <p:cNvSpPr txBox="1"/>
          <p:nvPr/>
        </p:nvSpPr>
        <p:spPr>
          <a:xfrm>
            <a:off x="581025" y="2912715"/>
            <a:ext cx="5229225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22D3EE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85%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581025" y="3865215"/>
            <a:ext cx="52292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Target Prediction Accuracy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581025" y="4230885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Validating whether high-scoring "obscurities" actually transitioned into knowledge hubs.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6381750" y="3376463"/>
            <a:ext cx="52292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We move beyond metrics to study </a:t>
            </a:r>
            <a:r>
              <a:rPr b="1" i="0" lang="en-US" sz="1500" u="none" cap="none" strike="noStrike">
                <a:solidFill>
                  <a:srgbClr val="22D3EE"/>
                </a:solidFill>
                <a:latin typeface="Inter"/>
                <a:ea typeface="Inter"/>
                <a:cs typeface="Inter"/>
                <a:sym typeface="Inter"/>
              </a:rPr>
              <a:t>Community Evolution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 By analyzing cluster growth, we can explain *why* concepts like "CRISPR" or "NFTs" exploded before they hit the mainstream.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771525" y="581025"/>
            <a:ext cx="1138142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1F5F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Milestone 6: Validation Narrative</a:t>
            </a:r>
            <a:endParaRPr/>
          </a:p>
        </p:txBody>
      </p:sp>
      <p:sp>
        <p:nvSpPr>
          <p:cNvPr id="222" name="Google Shape;222;p20"/>
          <p:cNvSpPr/>
          <p:nvPr/>
        </p:nvSpPr>
        <p:spPr>
          <a:xfrm>
            <a:off x="581025" y="581025"/>
            <a:ext cx="57150" cy="5143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6381750" y="3157388"/>
            <a:ext cx="549068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1F5F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Future Hub Discovery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152900"/>
            <a:ext cx="110299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476375"/>
            <a:ext cx="3486150" cy="2390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52925" y="1476375"/>
            <a:ext cx="3486150" cy="2390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24825" y="1476375"/>
            <a:ext cx="3486150" cy="2390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0550" y="4162425"/>
            <a:ext cx="1101090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76300" y="177165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 txBox="1"/>
          <p:nvPr/>
        </p:nvSpPr>
        <p:spPr>
          <a:xfrm>
            <a:off x="876300" y="2657475"/>
            <a:ext cx="289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GUI for browsing graph nodes and connection strength.</a:t>
            </a:r>
            <a:endParaRPr/>
          </a:p>
        </p:txBody>
      </p:sp>
      <p:pic>
        <p:nvPicPr>
          <p:cNvPr descr="image.png" id="236" name="Google Shape;236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48200" y="177165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1"/>
          <p:cNvSpPr txBox="1"/>
          <p:nvPr/>
        </p:nvSpPr>
        <p:spPr>
          <a:xfrm>
            <a:off x="4648200" y="2657475"/>
            <a:ext cx="2895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View the graph's evolution through temporal sliders.</a:t>
            </a:r>
            <a:endParaRPr/>
          </a:p>
        </p:txBody>
      </p:sp>
      <p:pic>
        <p:nvPicPr>
          <p:cNvPr descr="image.png" id="238" name="Google Shape;238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420100" y="177165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1"/>
          <p:cNvSpPr txBox="1"/>
          <p:nvPr/>
        </p:nvSpPr>
        <p:spPr>
          <a:xfrm>
            <a:off x="8420100" y="2657475"/>
            <a:ext cx="2895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Visualizing probability scores and feature importance.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771525" y="581025"/>
            <a:ext cx="1138142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1F5F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Milestone 7: The Final Polish</a:t>
            </a:r>
            <a:endParaRPr/>
          </a:p>
        </p:txBody>
      </p:sp>
      <p:sp>
        <p:nvSpPr>
          <p:cNvPr id="241" name="Google Shape;241;p21"/>
          <p:cNvSpPr/>
          <p:nvPr/>
        </p:nvSpPr>
        <p:spPr>
          <a:xfrm>
            <a:off x="581025" y="581025"/>
            <a:ext cx="57150" cy="5143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876300" y="2266950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Interactive Explorer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4648200" y="2266950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Time Travel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8420100" y="2266950"/>
            <a:ext cx="304038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Dashboard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507110"/>
            <a:ext cx="11029950" cy="8343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516409"/>
            <a:ext cx="110299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2"/>
          <p:cNvSpPr txBox="1"/>
          <p:nvPr/>
        </p:nvSpPr>
        <p:spPr>
          <a:xfrm>
            <a:off x="581025" y="3508920"/>
            <a:ext cx="110299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Phase 1 Kickoff: Tomorrow @ 09:00 AM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876300" y="4802385"/>
            <a:ext cx="104394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QUESTIONS &amp; FEEDBACK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305276" y="2564159"/>
            <a:ext cx="11581447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FFFFFF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Ready for Launch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9" name="Google Shape;25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3"/>
          <p:cNvSpPr/>
          <p:nvPr/>
        </p:nvSpPr>
        <p:spPr>
          <a:xfrm>
            <a:off x="581025" y="2704207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581025" y="3488977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581025" y="347945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581025" y="347945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581025" y="4264223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3"/>
          <p:cNvSpPr/>
          <p:nvPr/>
        </p:nvSpPr>
        <p:spPr>
          <a:xfrm>
            <a:off x="581025" y="4264223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6" name="Google Shape;26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85363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3"/>
          <p:cNvSpPr txBox="1"/>
          <p:nvPr/>
        </p:nvSpPr>
        <p:spPr>
          <a:xfrm>
            <a:off x="1676400" y="2847082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https://images.stockcake.com/public/f/f/a/ffa9eff2-7175-45f8-b305-d7aefaa621ef_large/high-tech-data-center-stockcake.jpg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1676400" y="3092797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stockcake.com</a:t>
            </a:r>
            <a:endParaRPr/>
          </a:p>
        </p:txBody>
      </p:sp>
      <p:pic>
        <p:nvPicPr>
          <p:cNvPr descr="image.png" id="269" name="Google Shape;26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63840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3"/>
          <p:cNvSpPr txBox="1"/>
          <p:nvPr/>
        </p:nvSpPr>
        <p:spPr>
          <a:xfrm>
            <a:off x="1676400" y="3631852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https://images.stockcake.com/public/5/0/3/50374b35-a39a-4860-b094-8fe3b6bab3f0_large/interconnected-data-nodes-stockcake.jpg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1676400" y="3877567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stockcake.com</a:t>
            </a:r>
            <a:endParaRPr/>
          </a:p>
        </p:txBody>
      </p:sp>
      <p:pic>
        <p:nvPicPr>
          <p:cNvPr descr="image.png" id="272" name="Google Shape;27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423171"/>
            <a:ext cx="14382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3"/>
          <p:cNvSpPr txBox="1"/>
          <p:nvPr/>
        </p:nvSpPr>
        <p:spPr>
          <a:xfrm>
            <a:off x="1676400" y="4416623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https://mokkupai.s3.ap-south-1.amazonaws.com/files/assets/blogs/cover-images/193.png</a:t>
            </a:r>
            <a:endParaRPr/>
          </a:p>
        </p:txBody>
      </p:sp>
      <p:sp>
        <p:nvSpPr>
          <p:cNvPr id="274" name="Google Shape;274;p23"/>
          <p:cNvSpPr txBox="1"/>
          <p:nvPr/>
        </p:nvSpPr>
        <p:spPr>
          <a:xfrm>
            <a:off x="1676400" y="4662338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www.mokkup.ai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771525" y="581025"/>
            <a:ext cx="11381422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1F5F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Image Sources</a:t>
            </a:r>
            <a:endParaRPr/>
          </a:p>
        </p:txBody>
      </p:sp>
      <p:sp>
        <p:nvSpPr>
          <p:cNvPr id="276" name="Google Shape;276;p23"/>
          <p:cNvSpPr/>
          <p:nvPr/>
        </p:nvSpPr>
        <p:spPr>
          <a:xfrm>
            <a:off x="581025" y="581025"/>
            <a:ext cx="57150" cy="51435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